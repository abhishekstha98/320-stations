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0"/>
  </p:notesMasterIdLst>
  <p:sldIdLst>
    <p:sldId id="256" r:id="rId2"/>
    <p:sldId id="257" r:id="rId3"/>
    <p:sldId id="258" r:id="rId4"/>
    <p:sldId id="274" r:id="rId5"/>
    <p:sldId id="259" r:id="rId6"/>
    <p:sldId id="260" r:id="rId7"/>
    <p:sldId id="261" r:id="rId8"/>
    <p:sldId id="262" r:id="rId9"/>
    <p:sldId id="263" r:id="rId10"/>
    <p:sldId id="275" r:id="rId11"/>
    <p:sldId id="276" r:id="rId12"/>
    <p:sldId id="265" r:id="rId13"/>
    <p:sldId id="266" r:id="rId14"/>
    <p:sldId id="278" r:id="rId15"/>
    <p:sldId id="279" r:id="rId16"/>
    <p:sldId id="277" r:id="rId17"/>
    <p:sldId id="267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686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3085ED-861B-4328-942B-64AA8C8BBD8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CBED3-61E5-42E7-9F32-C108E490D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19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2FC2E-9D91-4C0A-8EC5-0CDB6B797A37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21DDBC0-6D8C-4538-8700-0A5D87AA8A5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182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55667-5487-4464-9845-EFFE48D15EA5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531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EB774-A778-42E0-9F77-46D8299EB04F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853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C61E5-7974-4910-9950-8D621D2DCC1B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91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64FFD-54CF-452E-B1C6-2582902AADB9}" type="datetime1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221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4D1C-C300-442F-B8E0-A06A48C482EF}" type="datetime1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959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4857D-FB38-4779-BDBA-FF555A4DCB6A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60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1DF5-64EA-434F-BBA1-99146DCB61E7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456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A55A40B-B90B-4FED-85FC-5BD9619564F8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988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0041E-BA44-44B4-A1C0-98750C965243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92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280EF-A2F4-484D-9314-48C12C6F98E6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251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CF739-B463-4FB3-95E3-5F85E2B5EB72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21DDBC0-6D8C-4538-8700-0A5D87AA8A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622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28DB8-718E-C33E-0A89-4CAE7E34F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6173" y="425408"/>
            <a:ext cx="8915399" cy="2978078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/>
              <a:t>THESIS PROPOSAL ON</a:t>
            </a:r>
            <a:br>
              <a:rPr lang="en-US" sz="3200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3600" b="1" dirty="0"/>
              <a:t>Correlation-Adaptive Weather Graph Modeling for Precision Crop Recommendation in Complex Mountain Terrain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ABBA90-1D27-639F-CF61-6A29B1DA2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385187"/>
            <a:ext cx="8915399" cy="1828800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b="1" dirty="0"/>
              <a:t>PRESENTED BY</a:t>
            </a:r>
          </a:p>
          <a:p>
            <a:pPr algn="ctr"/>
            <a:r>
              <a:rPr lang="en-US" dirty="0" smtClean="0"/>
              <a:t>YOUR Name</a:t>
            </a:r>
            <a:br>
              <a:rPr lang="en-US" dirty="0" smtClean="0"/>
            </a:br>
            <a:r>
              <a:rPr lang="en-US" dirty="0" smtClean="0"/>
              <a:t>Program</a:t>
            </a:r>
            <a:br>
              <a:rPr lang="en-US" dirty="0" smtClean="0"/>
            </a:br>
            <a:r>
              <a:rPr lang="en-US" dirty="0" smtClean="0"/>
              <a:t>Supervisor</a:t>
            </a:r>
            <a:br>
              <a:rPr lang="en-US" dirty="0" smtClean="0"/>
            </a:br>
            <a:r>
              <a:rPr lang="en-US" dirty="0" smtClean="0"/>
              <a:t>Date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0C0CB-EA67-5277-DE30-5BA9920F5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8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53E87-815C-7315-CE8C-FD606B05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F6B11-F9F3-F599-4BD8-2F87B9F95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8915400" cy="4229906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Problem Statement</a:t>
            </a:r>
          </a:p>
          <a:p>
            <a:r>
              <a:rPr lang="en-US" dirty="0" smtClean="0"/>
              <a:t>Research Gap</a:t>
            </a:r>
          </a:p>
          <a:p>
            <a:r>
              <a:rPr lang="en-US" dirty="0" smtClean="0"/>
              <a:t>Objectives</a:t>
            </a:r>
          </a:p>
          <a:p>
            <a:r>
              <a:rPr lang="en-US" dirty="0" smtClean="0"/>
              <a:t>Methodology</a:t>
            </a:r>
          </a:p>
          <a:p>
            <a:r>
              <a:rPr lang="en-US" dirty="0" smtClean="0"/>
              <a:t>Experimental </a:t>
            </a:r>
            <a:r>
              <a:rPr lang="en-US" dirty="0" smtClean="0"/>
              <a:t>Design</a:t>
            </a:r>
          </a:p>
          <a:p>
            <a:r>
              <a:rPr lang="en-US" dirty="0" smtClean="0"/>
              <a:t>Evaluation Metrics</a:t>
            </a:r>
            <a:endParaRPr lang="en-US" dirty="0" smtClean="0"/>
          </a:p>
          <a:p>
            <a:r>
              <a:rPr lang="en-US" dirty="0" smtClean="0"/>
              <a:t>Expected Outcomes</a:t>
            </a:r>
          </a:p>
          <a:p>
            <a:r>
              <a:rPr lang="en-US" dirty="0" smtClean="0"/>
              <a:t>Timeline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0A619-A287-88A6-D4D9-6604B19C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31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2E2F3-94BC-549B-8825-AD5671124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(Background)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08037-8C91-F7F2-234F-E066798D7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81931"/>
            <a:ext cx="8915400" cy="4092254"/>
          </a:xfrm>
        </p:spPr>
        <p:txBody>
          <a:bodyPr>
            <a:normAutofit/>
          </a:bodyPr>
          <a:lstStyle/>
          <a:p>
            <a:r>
              <a:rPr lang="en-US" dirty="0"/>
              <a:t>Agriculture in Nepal is highly weather-dependent </a:t>
            </a:r>
            <a:endParaRPr lang="en-US" dirty="0" smtClean="0"/>
          </a:p>
          <a:p>
            <a:r>
              <a:rPr lang="en-US" dirty="0" smtClean="0"/>
              <a:t>Mountain </a:t>
            </a:r>
            <a:r>
              <a:rPr lang="en-US" dirty="0"/>
              <a:t>terrain → complex microclimates </a:t>
            </a:r>
            <a:endParaRPr lang="en-US" dirty="0" smtClean="0"/>
          </a:p>
          <a:p>
            <a:r>
              <a:rPr lang="en-US" dirty="0" smtClean="0"/>
              <a:t>Existing </a:t>
            </a:r>
            <a:r>
              <a:rPr lang="en-US" dirty="0"/>
              <a:t>CRS rely on accurate forecasting </a:t>
            </a:r>
            <a:endParaRPr lang="en-US" dirty="0" smtClean="0"/>
          </a:p>
          <a:p>
            <a:r>
              <a:rPr lang="en-US" dirty="0" smtClean="0"/>
              <a:t>STGCN </a:t>
            </a:r>
            <a:r>
              <a:rPr lang="en-US" dirty="0"/>
              <a:t>enables </a:t>
            </a:r>
            <a:r>
              <a:rPr lang="en-US" dirty="0" err="1"/>
              <a:t>spatio</a:t>
            </a:r>
            <a:r>
              <a:rPr lang="en-US" dirty="0"/>
              <a:t>-temporal modeling </a:t>
            </a:r>
            <a:endParaRPr lang="en-US" dirty="0" smtClean="0"/>
          </a:p>
          <a:p>
            <a:r>
              <a:rPr lang="en-US" dirty="0" smtClean="0"/>
              <a:t>Problem</a:t>
            </a:r>
            <a:r>
              <a:rPr lang="en-US" dirty="0"/>
              <a:t>: Geographic distance ≠ atmospheric similarity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77797-F256-F1F8-C6D4-A2F97A3B1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13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2E2F3-94BC-549B-8825-AD5671124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</a:t>
            </a:r>
            <a:r>
              <a:rPr lang="en-US" dirty="0"/>
              <a:t>(The Distance Trap in Mountain Terrain)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08037-8C91-F7F2-234F-E066798D7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117733"/>
            <a:ext cx="8915400" cy="4092254"/>
          </a:xfrm>
        </p:spPr>
        <p:txBody>
          <a:bodyPr>
            <a:normAutofit/>
          </a:bodyPr>
          <a:lstStyle/>
          <a:p>
            <a:r>
              <a:rPr lang="en-US" dirty="0"/>
              <a:t>Nearby stations can have very different </a:t>
            </a:r>
            <a:r>
              <a:rPr lang="en-US" dirty="0" smtClean="0"/>
              <a:t>weather</a:t>
            </a:r>
          </a:p>
          <a:p>
            <a:r>
              <a:rPr lang="en-US" dirty="0" smtClean="0"/>
              <a:t> </a:t>
            </a:r>
            <a:r>
              <a:rPr lang="en-US" dirty="0"/>
              <a:t>Valley station (5 km): 20°C </a:t>
            </a:r>
            <a:endParaRPr lang="en-US" dirty="0" smtClean="0"/>
          </a:p>
          <a:p>
            <a:r>
              <a:rPr lang="en-US" dirty="0" smtClean="0"/>
              <a:t>Ridge </a:t>
            </a:r>
            <a:r>
              <a:rPr lang="en-US" dirty="0"/>
              <a:t>station (5 km): 5°C </a:t>
            </a:r>
            <a:endParaRPr lang="en-US" dirty="0" smtClean="0"/>
          </a:p>
          <a:p>
            <a:r>
              <a:rPr lang="en-US" dirty="0" smtClean="0"/>
              <a:t>Distant </a:t>
            </a:r>
            <a:r>
              <a:rPr lang="en-US" dirty="0"/>
              <a:t>valleys may show similar atmospheric behavior </a:t>
            </a:r>
            <a:endParaRPr lang="en-US" dirty="0" smtClean="0"/>
          </a:p>
          <a:p>
            <a:r>
              <a:rPr lang="en-US" dirty="0" smtClean="0"/>
              <a:t>Geographic </a:t>
            </a:r>
            <a:r>
              <a:rPr lang="en-US" dirty="0"/>
              <a:t>proximity ≠ atmospheric similarity</a:t>
            </a:r>
            <a:endParaRPr lang="en-US" dirty="0" smtClean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77797-F256-F1F8-C6D4-A2F97A3B1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81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98C46-95D5-4B3C-1907-C0014EF4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C8D3B-AAAA-CFC9-D662-546AA6D40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26386"/>
            <a:ext cx="8915400" cy="4200409"/>
          </a:xfrm>
        </p:spPr>
        <p:txBody>
          <a:bodyPr>
            <a:noAutofit/>
          </a:bodyPr>
          <a:lstStyle/>
          <a:p>
            <a:r>
              <a:rPr lang="en-US" sz="1500" dirty="0"/>
              <a:t>Distance-based adjacency: </a:t>
            </a:r>
            <a:endParaRPr lang="en-US" sz="1500" dirty="0" smtClean="0"/>
          </a:p>
          <a:p>
            <a:pPr marL="0" indent="0">
              <a:buNone/>
            </a:pPr>
            <a:r>
              <a:rPr lang="en-US" sz="1500" dirty="0" smtClean="0"/>
              <a:t>	Aᵢⱼ </a:t>
            </a:r>
            <a:r>
              <a:rPr lang="en-US" sz="1500" dirty="0"/>
              <a:t>= </a:t>
            </a:r>
            <a:r>
              <a:rPr lang="en-US" sz="1500" dirty="0" err="1"/>
              <a:t>exp</a:t>
            </a:r>
            <a:r>
              <a:rPr lang="en-US" sz="1500" dirty="0"/>
              <a:t>(− dᵢⱼ² / </a:t>
            </a:r>
            <a:r>
              <a:rPr lang="el-GR" sz="1500" dirty="0"/>
              <a:t>σ²) </a:t>
            </a:r>
            <a:endParaRPr lang="en-CA" sz="1500" dirty="0" smtClean="0"/>
          </a:p>
          <a:p>
            <a:pPr marL="0" indent="0">
              <a:buNone/>
            </a:pPr>
            <a:r>
              <a:rPr lang="en-US" sz="1500" dirty="0" smtClean="0"/>
              <a:t>	Where </a:t>
            </a:r>
            <a:r>
              <a:rPr lang="en-US" sz="1500" dirty="0"/>
              <a:t>dᵢⱼ is the geodesic distance between stations </a:t>
            </a:r>
            <a:r>
              <a:rPr lang="en-US" sz="1500" dirty="0" err="1"/>
              <a:t>i</a:t>
            </a:r>
            <a:r>
              <a:rPr lang="en-US" sz="1500" dirty="0"/>
              <a:t> and j</a:t>
            </a:r>
            <a:endParaRPr lang="en-CA" sz="1500" dirty="0" smtClean="0"/>
          </a:p>
          <a:p>
            <a:r>
              <a:rPr lang="en-US" sz="1500" dirty="0" smtClean="0"/>
              <a:t>Assumes </a:t>
            </a:r>
            <a:r>
              <a:rPr lang="en-US" sz="1500" dirty="0"/>
              <a:t>spatial smoothness. </a:t>
            </a:r>
            <a:endParaRPr lang="en-US" sz="1500" dirty="0" smtClean="0"/>
          </a:p>
          <a:p>
            <a:r>
              <a:rPr lang="en-CA" sz="1500" dirty="0"/>
              <a:t>Fails in mountains due to:</a:t>
            </a:r>
          </a:p>
          <a:p>
            <a:pPr lvl="1"/>
            <a:r>
              <a:rPr lang="en-CA" sz="1500" dirty="0"/>
              <a:t>Elevation differences </a:t>
            </a:r>
          </a:p>
          <a:p>
            <a:pPr lvl="1"/>
            <a:r>
              <a:rPr lang="en-CA" sz="1500" dirty="0"/>
              <a:t>Terrain barriers </a:t>
            </a:r>
          </a:p>
          <a:p>
            <a:pPr lvl="1"/>
            <a:r>
              <a:rPr lang="en-CA" sz="1500" dirty="0"/>
              <a:t>Microclimate variation </a:t>
            </a:r>
          </a:p>
          <a:p>
            <a:r>
              <a:rPr lang="en-CA" sz="1500" dirty="0"/>
              <a:t>Result:</a:t>
            </a:r>
          </a:p>
          <a:p>
            <a:pPr lvl="1"/>
            <a:r>
              <a:rPr lang="en-CA" sz="1500" dirty="0"/>
              <a:t>“Distance Trap” </a:t>
            </a:r>
          </a:p>
          <a:p>
            <a:pPr lvl="1"/>
            <a:r>
              <a:rPr lang="en-CA" sz="1500" dirty="0"/>
              <a:t>Poor forecasts → unreliable crop recommendations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BC3E4-ED93-94FA-659D-E9F5EA20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40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4BE1-11AF-03E3-381F-FE0C5E8F3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Gap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51FC3-7ACD-2127-EE25-68BE25346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77016"/>
            <a:ext cx="9361180" cy="4006222"/>
          </a:xfrm>
        </p:spPr>
        <p:txBody>
          <a:bodyPr>
            <a:normAutofit/>
          </a:bodyPr>
          <a:lstStyle/>
          <a:p>
            <a:r>
              <a:rPr lang="en-US" dirty="0" smtClean="0"/>
              <a:t>Distance-based graphs dominate forecasting </a:t>
            </a:r>
          </a:p>
          <a:p>
            <a:r>
              <a:rPr lang="en-US" dirty="0" smtClean="0"/>
              <a:t>Climate studies show teleconnections exist </a:t>
            </a:r>
          </a:p>
          <a:p>
            <a:r>
              <a:rPr lang="en-US" dirty="0" smtClean="0"/>
              <a:t>Missing:</a:t>
            </a:r>
          </a:p>
          <a:p>
            <a:pPr lvl="1"/>
            <a:r>
              <a:rPr lang="en-US" dirty="0" smtClean="0"/>
              <a:t>Functional (correlation-based) topology </a:t>
            </a:r>
          </a:p>
          <a:p>
            <a:pPr lvl="1"/>
            <a:r>
              <a:rPr lang="en-US" dirty="0" smtClean="0"/>
              <a:t>Terrain-aware evaluation </a:t>
            </a:r>
          </a:p>
          <a:p>
            <a:pPr lvl="1"/>
            <a:r>
              <a:rPr lang="en-US" dirty="0" smtClean="0"/>
              <a:t>Integration into crop recommendation systems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41C7A-1D3D-D220-D934-2AA37F87C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442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C4194-EDC7-9DF1-66EA-7C0226E3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A2EBD-91C8-D408-AB2C-2B0637969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8915400" cy="4082422"/>
          </a:xfrm>
        </p:spPr>
        <p:txBody>
          <a:bodyPr>
            <a:normAutofit/>
          </a:bodyPr>
          <a:lstStyle/>
          <a:p>
            <a:r>
              <a:rPr lang="en-CA" sz="2400" dirty="0" smtClean="0"/>
              <a:t>Primary Objective</a:t>
            </a:r>
            <a:endParaRPr lang="en-CA" sz="2400" dirty="0"/>
          </a:p>
          <a:p>
            <a:pPr lvl="1"/>
            <a:r>
              <a:rPr lang="en-CA" sz="2200" dirty="0"/>
              <a:t>Improve forecasting + crop recommendation in mountainous terrain </a:t>
            </a:r>
          </a:p>
          <a:p>
            <a:r>
              <a:rPr lang="en-CA" sz="2400" dirty="0" smtClean="0"/>
              <a:t>Specific Objectives</a:t>
            </a:r>
            <a:endParaRPr lang="en-CA" sz="2400" dirty="0"/>
          </a:p>
          <a:p>
            <a:pPr lvl="1"/>
            <a:r>
              <a:rPr lang="en-CA" sz="2200" dirty="0"/>
              <a:t>Build correlation-based graph (320 stations) </a:t>
            </a:r>
          </a:p>
          <a:p>
            <a:pPr lvl="1"/>
            <a:r>
              <a:rPr lang="en-CA" sz="2200" dirty="0"/>
              <a:t>Implement STGCN </a:t>
            </a:r>
          </a:p>
          <a:p>
            <a:pPr lvl="1"/>
            <a:r>
              <a:rPr lang="en-CA" sz="2200" dirty="0"/>
              <a:t>Compare vs distance-based graph </a:t>
            </a:r>
          </a:p>
          <a:p>
            <a:pPr lvl="1"/>
            <a:r>
              <a:rPr lang="en-CA" sz="2200" dirty="0"/>
              <a:t>Evaluate crop prediction accuracy </a:t>
            </a:r>
          </a:p>
          <a:p>
            <a:pPr lvl="1"/>
            <a:r>
              <a:rPr lang="en-CA" sz="2200" dirty="0"/>
              <a:t>Perform terrain-based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A5E5F-CA14-1345-79A1-39C3349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0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810B2-AC05-71DC-BE52-4E5B021E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(Overall Methodology Framework)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FDDA6-BFDA-3809-D3AE-E004B8FE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8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848" y="1756162"/>
            <a:ext cx="7318312" cy="372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837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379FC-411C-4655-B13F-2761F9184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</a:t>
            </a:r>
            <a:r>
              <a:rPr lang="en-US" dirty="0" smtClean="0"/>
              <a:t>(Correlation-Adaptive </a:t>
            </a:r>
            <a:r>
              <a:rPr lang="en-US" dirty="0"/>
              <a:t>Graph </a:t>
            </a:r>
            <a:r>
              <a:rPr lang="en-US" dirty="0" smtClean="0"/>
              <a:t>Construction)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079" y="1616345"/>
            <a:ext cx="10312400" cy="182991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BBBFB-FC9A-9CBA-B401-58C6F264E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19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2B29-9DB4-9DAB-7921-2329BFBC7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266" y="798973"/>
            <a:ext cx="8911687" cy="624587"/>
          </a:xfrm>
        </p:spPr>
        <p:txBody>
          <a:bodyPr>
            <a:normAutofit/>
          </a:bodyPr>
          <a:lstStyle/>
          <a:p>
            <a:r>
              <a:rPr lang="en-US" dirty="0" smtClean="0"/>
              <a:t>Methodology </a:t>
            </a:r>
            <a:r>
              <a:rPr lang="en-US" dirty="0" smtClean="0"/>
              <a:t>(STGCN Model)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CE2526-2827-9A85-03BF-4372CD06E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10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51579" y="1832852"/>
            <a:ext cx="10080021" cy="4263148"/>
          </a:xfrm>
        </p:spPr>
        <p:txBody>
          <a:bodyPr>
            <a:normAutofit/>
          </a:bodyPr>
          <a:lstStyle/>
          <a:p>
            <a:r>
              <a:rPr lang="en-US" dirty="0" smtClean="0"/>
              <a:t>Model</a:t>
            </a:r>
            <a:endParaRPr lang="en-US" dirty="0"/>
          </a:p>
          <a:p>
            <a:pPr lvl="1"/>
            <a:r>
              <a:rPr lang="en-US" dirty="0"/>
              <a:t>Temporal Convolution </a:t>
            </a:r>
          </a:p>
          <a:p>
            <a:pPr lvl="1"/>
            <a:r>
              <a:rPr lang="en-US" dirty="0"/>
              <a:t>Graph Convolution (K = 3) </a:t>
            </a:r>
          </a:p>
          <a:p>
            <a:pPr lvl="1"/>
            <a:r>
              <a:rPr lang="en-US" dirty="0"/>
              <a:t>Multi-layer architecture </a:t>
            </a:r>
          </a:p>
          <a:p>
            <a:r>
              <a:rPr lang="en-US" dirty="0"/>
              <a:t>Output</a:t>
            </a:r>
          </a:p>
          <a:p>
            <a:pPr lvl="1"/>
            <a:r>
              <a:rPr lang="en-US" dirty="0"/>
              <a:t>7-day </a:t>
            </a:r>
            <a:r>
              <a:rPr lang="en-US" dirty="0" smtClean="0"/>
              <a:t>forecast</a:t>
            </a:r>
          </a:p>
          <a:p>
            <a:pPr lvl="1"/>
            <a:r>
              <a:rPr lang="en-US" dirty="0" smtClean="0"/>
              <a:t>Temperature, Humidity, Rainfall</a:t>
            </a:r>
            <a:endParaRPr lang="en-US" dirty="0"/>
          </a:p>
          <a:p>
            <a:r>
              <a:rPr lang="en-US" dirty="0"/>
              <a:t>Key Idea</a:t>
            </a:r>
          </a:p>
          <a:p>
            <a:pPr lvl="1"/>
            <a:r>
              <a:rPr lang="en-US" dirty="0"/>
              <a:t>Uses correlated neighbors </a:t>
            </a:r>
          </a:p>
          <a:p>
            <a:pPr lvl="1"/>
            <a:r>
              <a:rPr lang="en-US" dirty="0"/>
              <a:t>Forms a virtual sensor network</a:t>
            </a:r>
          </a:p>
        </p:txBody>
      </p:sp>
    </p:spTree>
    <p:extLst>
      <p:ext uri="{BB962C8B-B14F-4D97-AF65-F5344CB8AC3E}">
        <p14:creationId xmlns:p14="http://schemas.microsoft.com/office/powerpoint/2010/main" val="1175791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2B29-9DB4-9DAB-7921-2329BFBC7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266" y="798973"/>
            <a:ext cx="8911687" cy="62458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Methodology (</a:t>
            </a:r>
            <a:r>
              <a:rPr lang="en-CA" dirty="0"/>
              <a:t>Crop Recommendation Integration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CE2526-2827-9A85-03BF-4372CD06E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11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68721" y="1832851"/>
            <a:ext cx="11117655" cy="3318571"/>
          </a:xfrm>
        </p:spPr>
        <p:txBody>
          <a:bodyPr>
            <a:normAutofit lnSpcReduction="10000"/>
          </a:bodyPr>
          <a:lstStyle/>
          <a:p>
            <a:r>
              <a:rPr lang="en-CA" dirty="0"/>
              <a:t>Input</a:t>
            </a:r>
          </a:p>
          <a:p>
            <a:pPr lvl="1"/>
            <a:r>
              <a:rPr lang="en-CA" dirty="0"/>
              <a:t>Forecasted weather (Temp, Humidity, Rainfall) </a:t>
            </a:r>
          </a:p>
          <a:p>
            <a:r>
              <a:rPr lang="en-CA" dirty="0"/>
              <a:t>Method</a:t>
            </a:r>
          </a:p>
          <a:p>
            <a:pPr lvl="1"/>
            <a:r>
              <a:rPr lang="en-CA" dirty="0"/>
              <a:t>Biometric threshold mapping </a:t>
            </a:r>
          </a:p>
          <a:p>
            <a:pPr lvl="1"/>
            <a:r>
              <a:rPr lang="en-CA" dirty="0"/>
              <a:t>Example: Rice → Temp &gt; 20°C, RH &gt; 80% </a:t>
            </a:r>
          </a:p>
          <a:p>
            <a:pPr lvl="1"/>
            <a:r>
              <a:rPr lang="en-CA" dirty="0"/>
              <a:t>Optional: Random Forest classifier </a:t>
            </a:r>
          </a:p>
          <a:p>
            <a:r>
              <a:rPr lang="en-CA" dirty="0"/>
              <a:t>Output</a:t>
            </a:r>
          </a:p>
          <a:p>
            <a:pPr lvl="1"/>
            <a:r>
              <a:rPr lang="en-CA" dirty="0" smtClean="0"/>
              <a:t>Ranked </a:t>
            </a:r>
            <a:r>
              <a:rPr lang="en-CA" dirty="0"/>
              <a:t>crop </a:t>
            </a:r>
            <a:r>
              <a:rPr lang="en-CA" dirty="0" smtClean="0"/>
              <a:t>recommendations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232" y="4797147"/>
            <a:ext cx="5341545" cy="141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668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49F9-85BB-EB71-A5CF-3C4312807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565" y="815626"/>
            <a:ext cx="8911687" cy="1011521"/>
          </a:xfrm>
        </p:spPr>
        <p:txBody>
          <a:bodyPr/>
          <a:lstStyle/>
          <a:p>
            <a:r>
              <a:rPr lang="en-US" dirty="0" smtClean="0"/>
              <a:t>Experimental </a:t>
            </a:r>
            <a:r>
              <a:rPr lang="en-US" dirty="0" smtClean="0"/>
              <a:t>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2F169-B8EC-89E0-EE85-A95979EFB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472" y="1816441"/>
            <a:ext cx="10293381" cy="4344428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Compare</a:t>
            </a:r>
          </a:p>
          <a:p>
            <a:pPr lvl="1"/>
            <a:r>
              <a:rPr lang="en-CA" dirty="0"/>
              <a:t>Distance-based STGCN </a:t>
            </a:r>
          </a:p>
          <a:p>
            <a:pPr lvl="1"/>
            <a:r>
              <a:rPr lang="en-CA" dirty="0"/>
              <a:t>Correlation-based STGCN </a:t>
            </a:r>
          </a:p>
          <a:p>
            <a:r>
              <a:rPr lang="en-CA" dirty="0"/>
              <a:t>Baselines</a:t>
            </a:r>
          </a:p>
          <a:p>
            <a:pPr lvl="1"/>
            <a:r>
              <a:rPr lang="en-CA" dirty="0"/>
              <a:t>LSTM (no graph structure) </a:t>
            </a:r>
          </a:p>
          <a:p>
            <a:pPr lvl="1"/>
            <a:r>
              <a:rPr lang="en-CA" dirty="0"/>
              <a:t>IDW interpolation </a:t>
            </a:r>
          </a:p>
          <a:p>
            <a:r>
              <a:rPr lang="en-CA" dirty="0"/>
              <a:t>Controlled Factors</a:t>
            </a:r>
          </a:p>
          <a:p>
            <a:pPr lvl="1"/>
            <a:r>
              <a:rPr lang="en-CA" dirty="0"/>
              <a:t>Same dataset </a:t>
            </a:r>
          </a:p>
          <a:p>
            <a:pPr lvl="1"/>
            <a:r>
              <a:rPr lang="en-CA" dirty="0"/>
              <a:t>Same architecture </a:t>
            </a:r>
          </a:p>
          <a:p>
            <a:pPr lvl="1"/>
            <a:r>
              <a:rPr lang="en-CA" dirty="0"/>
              <a:t>Same hyperparameters </a:t>
            </a:r>
          </a:p>
          <a:p>
            <a:pPr lvl="1"/>
            <a:r>
              <a:rPr lang="en-CA" dirty="0"/>
              <a:t>Same forecasting horizon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3C516-0034-D415-8774-2BAC61F7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3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DFF6F-42FE-8E51-CE8D-90B09C71F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17CFD5-B8D0-1FA2-A73D-0CCAB84CB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816F760-D672-942E-6E48-F84DBBCCD4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82761" y="3254476"/>
                <a:ext cx="10832199" cy="38067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Accuracy : Indicates overall classification correctness.	</a:t>
                </a:r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  <a:r>
                  <a:rPr lang="en-US" sz="2000" dirty="0" smtClean="0"/>
                  <a:t>Accuracy  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r>
                  <a:rPr lang="en-US" sz="2000" dirty="0"/>
                  <a:t>   </a:t>
                </a:r>
              </a:p>
              <a:p>
                <a:r>
                  <a:rPr lang="en-US" sz="2000" dirty="0"/>
                  <a:t>Precision : Measures reliability of positive crop recommendations.		                 </a:t>
                </a:r>
                <a:r>
                  <a:rPr lang="en-US" sz="2000" dirty="0" smtClean="0"/>
                  <a:t>	</a:t>
                </a:r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  <a:r>
                  <a:rPr lang="en-US" sz="2000" dirty="0" smtClean="0"/>
                  <a:t>	</a:t>
                </a:r>
                <a:r>
                  <a:rPr lang="en-US" sz="1600" dirty="0" smtClean="0"/>
                  <a:t>Precision </a:t>
                </a:r>
                <a:r>
                  <a:rPr lang="en-US" sz="1600" dirty="0"/>
                  <a:t>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𝑇𝑃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endParaRPr lang="en-US" sz="16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816F760-D672-942E-6E48-F84DBBCCD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761" y="3254476"/>
                <a:ext cx="10832199" cy="3806723"/>
              </a:xfrm>
              <a:prstGeom prst="rect">
                <a:avLst/>
              </a:prstGeom>
              <a:blipFill>
                <a:blip r:embed="rId2"/>
                <a:stretch>
                  <a:fillRect l="-506" t="-176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7075870"/>
              </p:ext>
            </p:extLst>
          </p:nvPr>
        </p:nvGraphicFramePr>
        <p:xfrm>
          <a:off x="1450975" y="2016125"/>
          <a:ext cx="960437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458">
                  <a:extLst>
                    <a:ext uri="{9D8B030D-6E8A-4147-A177-3AD203B41FA5}">
                      <a16:colId xmlns:a16="http://schemas.microsoft.com/office/drawing/2014/main" val="79609395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2154495619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2605554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Actual Positive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Actual Negative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3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Predicted</a:t>
                      </a:r>
                      <a:r>
                        <a:rPr lang="en-CA" baseline="0" dirty="0" smtClean="0"/>
                        <a:t> Positive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TP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FP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018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Predicted</a:t>
                      </a:r>
                      <a:r>
                        <a:rPr lang="en-CA" baseline="0" dirty="0" smtClean="0"/>
                        <a:t> Negative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FN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TN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533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8363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DFF6F-42FE-8E51-CE8D-90B09C71F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</a:t>
            </a:r>
            <a:r>
              <a:rPr lang="en-US" dirty="0" smtClean="0"/>
              <a:t>Metrics Cont.'s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17CFD5-B8D0-1FA2-A73D-0CCAB84CB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816F760-D672-942E-6E48-F84DBBCCD4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82761" y="3254477"/>
                <a:ext cx="9216759" cy="28821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dirty="0" smtClean="0"/>
                  <a:t>Recall:</a:t>
                </a:r>
                <a:r>
                  <a:rPr lang="en-US" sz="1600" b="1" dirty="0" smtClean="0"/>
                  <a:t> </a:t>
                </a:r>
                <a:r>
                  <a:rPr lang="en-US" sz="1600" dirty="0" smtClean="0"/>
                  <a:t>Measures </a:t>
                </a:r>
                <a:r>
                  <a:rPr lang="en-US" sz="1600" dirty="0"/>
                  <a:t>ability to detect suitable crops</a:t>
                </a:r>
                <a:r>
                  <a:rPr lang="en-US" sz="1600" dirty="0" smtClean="0"/>
                  <a:t>.</a:t>
                </a:r>
              </a:p>
              <a:p>
                <a:pPr marL="0" indent="0">
                  <a:buNone/>
                </a:pPr>
                <a:endParaRPr lang="en-US" sz="16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</m:t>
                      </m:r>
                      <m:r>
                        <a:rPr lang="en-CA" sz="160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sz="1600" i="1">
                          <a:latin typeface="Cambria Math" panose="02040503050406030204" pitchFamily="18" charset="0"/>
                        </a:rPr>
                        <m:t>𝑒𝑐𝑎𝑙𝑙</m:t>
                      </m:r>
                      <m:r>
                        <a:rPr lang="en-CA" sz="16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CA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600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CA" sz="1600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CA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CA" sz="1600" i="1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sz="1600" dirty="0" smtClean="0"/>
              </a:p>
              <a:p>
                <a:r>
                  <a:rPr lang="en-US" sz="1600" dirty="0" smtClean="0"/>
                  <a:t>F1-Score: Balances precision and recall.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1=</m:t>
                      </m:r>
                      <m:f>
                        <m:fPr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num>
                        <m:den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 marL="457200" lvl="1" indent="0">
                  <a:buNone/>
                </a:pPr>
                <a:endParaRPr lang="en-US" sz="1200" dirty="0" smtClean="0"/>
              </a:p>
              <a:p>
                <a:pPr marL="457200" lvl="1" indent="0">
                  <a:buNone/>
                </a:pPr>
                <a:endParaRPr lang="en-US" sz="1200" dirty="0" smtClean="0"/>
              </a:p>
              <a:p>
                <a:pPr marL="457200" lvl="1" indent="0">
                  <a:buNone/>
                </a:pPr>
                <a:endParaRPr lang="en-US" sz="1200" dirty="0" smtClean="0"/>
              </a:p>
              <a:p>
                <a:pPr marL="457200" lvl="1" indent="0">
                  <a:buNone/>
                </a:pPr>
                <a:endParaRPr lang="en-US" sz="1200" dirty="0"/>
              </a:p>
              <a:p>
                <a:pPr lvl="1"/>
                <a:endParaRPr lang="en-US" sz="1200" dirty="0" smtClean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816F760-D672-942E-6E48-F84DBBCCD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761" y="3254477"/>
                <a:ext cx="9216759" cy="2882163"/>
              </a:xfrm>
              <a:prstGeom prst="rect">
                <a:avLst/>
              </a:prstGeom>
              <a:blipFill>
                <a:blip r:embed="rId2"/>
                <a:stretch>
                  <a:fillRect l="-265" t="-148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7075870"/>
              </p:ext>
            </p:extLst>
          </p:nvPr>
        </p:nvGraphicFramePr>
        <p:xfrm>
          <a:off x="1450975" y="2016125"/>
          <a:ext cx="960437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458">
                  <a:extLst>
                    <a:ext uri="{9D8B030D-6E8A-4147-A177-3AD203B41FA5}">
                      <a16:colId xmlns:a16="http://schemas.microsoft.com/office/drawing/2014/main" val="79609395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2154495619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2605554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Actual Positive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Actual Negative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3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Predicted</a:t>
                      </a:r>
                      <a:r>
                        <a:rPr lang="en-CA" baseline="0" dirty="0" smtClean="0"/>
                        <a:t> Positive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TP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FP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018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Predicted</a:t>
                      </a:r>
                      <a:r>
                        <a:rPr lang="en-CA" baseline="0" dirty="0" smtClean="0"/>
                        <a:t> Negative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FN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TN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533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5698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DFF6F-42FE-8E51-CE8D-90B09C71F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</a:t>
            </a:r>
            <a:r>
              <a:rPr lang="en-US" dirty="0" smtClean="0"/>
              <a:t>Metrics (Forecasting Metrics)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17CFD5-B8D0-1FA2-A73D-0CCAB84CB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CA" dirty="0" smtClean="0"/>
                  <a:t>RMSE (Root Mean Square Error): Measure </a:t>
                </a:r>
                <a:r>
                  <a:rPr lang="en-CA" dirty="0" err="1" smtClean="0"/>
                  <a:t>magniture</a:t>
                </a:r>
                <a:r>
                  <a:rPr lang="en-CA" dirty="0" smtClean="0"/>
                  <a:t> of prediction error.</a:t>
                </a:r>
              </a:p>
              <a:p>
                <a:pPr marL="0" indent="0">
                  <a:buNone/>
                </a:pPr>
                <a:r>
                  <a:rPr lang="en-CA" dirty="0" smtClean="0"/>
                  <a:t>	RMSE=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CA" i="1"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𝑦𝑖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CA" dirty="0" smtClean="0"/>
                  <a:t>		</a:t>
                </a:r>
              </a:p>
              <a:p>
                <a:r>
                  <a:rPr lang="en-CA" dirty="0" smtClean="0"/>
                  <a:t>MAE (Mean Absolute Error): Measure average absolute prediction error.</a:t>
                </a:r>
              </a:p>
              <a:p>
                <a:pPr marL="0" indent="0">
                  <a:buNone/>
                </a:pPr>
                <a:r>
                  <a:rPr lang="en-CA" dirty="0" smtClean="0"/>
                  <a:t>	MAE=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CA" i="1">
                        <a:latin typeface="Cambria Math" panose="02040503050406030204" pitchFamily="18" charset="0"/>
                      </a:rPr>
                      <m:t>∑|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𝑦𝑖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CA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CA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 smtClean="0"/>
                  <a:t>(Coefficient of Determination): Measures variance explained by the model.</a:t>
                </a:r>
              </a:p>
              <a:p>
                <a:pPr marL="457200" lvl="1" indent="0">
                  <a:buNone/>
                </a:pPr>
                <a:r>
                  <a:rPr lang="en-CA" dirty="0" smtClean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 smtClean="0"/>
                  <a:t>=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𝑟𝑒𝑠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</m:den>
                    </m:f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71" t="-88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013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Expected </a:t>
            </a:r>
            <a:r>
              <a:rPr lang="en-CA" dirty="0" smtClean="0"/>
              <a:t>outcomes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Methodological:</a:t>
            </a:r>
            <a:br>
              <a:rPr lang="en-CA" dirty="0"/>
            </a:br>
            <a:r>
              <a:rPr lang="en-CA" dirty="0"/>
              <a:t>Correlation-adaptive graph topology for mountainous terrain</a:t>
            </a:r>
          </a:p>
          <a:p>
            <a:r>
              <a:rPr lang="en-CA" dirty="0"/>
              <a:t>Technical:</a:t>
            </a:r>
            <a:br>
              <a:rPr lang="en-CA" dirty="0"/>
            </a:br>
            <a:r>
              <a:rPr lang="en-CA" dirty="0"/>
              <a:t>Improved forecasting accuracy in high-relief zones</a:t>
            </a:r>
          </a:p>
          <a:p>
            <a:r>
              <a:rPr lang="en-CA" dirty="0"/>
              <a:t>Practical:</a:t>
            </a:r>
            <a:br>
              <a:rPr lang="en-CA" dirty="0"/>
            </a:br>
            <a:r>
              <a:rPr lang="en-CA" dirty="0"/>
              <a:t>More reliable crop recommendation in complex terrain</a:t>
            </a:r>
          </a:p>
          <a:p>
            <a:r>
              <a:rPr lang="en-CA" dirty="0"/>
              <a:t>Hypothesis:</a:t>
            </a:r>
            <a:br>
              <a:rPr lang="en-CA" dirty="0"/>
            </a:br>
            <a:r>
              <a:rPr lang="en-CA" dirty="0"/>
              <a:t>Correlation-based adjacency reduces forecast error and improves crop </a:t>
            </a:r>
            <a:r>
              <a:rPr lang="en-CA" dirty="0" smtClean="0"/>
              <a:t>recommendation reliability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12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A6ABC-DD20-2487-1131-C5D323E1E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TImeline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04B51-2158-28C7-A3DF-85A1D8CE9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36589"/>
            <a:ext cx="8915400" cy="4660490"/>
          </a:xfrm>
        </p:spPr>
        <p:txBody>
          <a:bodyPr>
            <a:normAutofit/>
          </a:bodyPr>
          <a:lstStyle/>
          <a:p>
            <a:r>
              <a:rPr lang="en-US" dirty="0"/>
              <a:t>Month 1–2: Data preprocessing &amp; graph </a:t>
            </a:r>
            <a:r>
              <a:rPr lang="en-US" dirty="0" smtClean="0"/>
              <a:t>construction</a:t>
            </a:r>
          </a:p>
          <a:p>
            <a:r>
              <a:rPr lang="en-US" dirty="0" smtClean="0"/>
              <a:t>Month </a:t>
            </a:r>
            <a:r>
              <a:rPr lang="en-US" dirty="0"/>
              <a:t>3: Baseline </a:t>
            </a:r>
            <a:r>
              <a:rPr lang="en-US" dirty="0" smtClean="0"/>
              <a:t>implementation</a:t>
            </a:r>
          </a:p>
          <a:p>
            <a:r>
              <a:rPr lang="en-US" dirty="0" smtClean="0"/>
              <a:t>Month </a:t>
            </a:r>
            <a:r>
              <a:rPr lang="en-US" dirty="0"/>
              <a:t>4–5: Model training &amp; </a:t>
            </a:r>
            <a:r>
              <a:rPr lang="en-US" dirty="0" smtClean="0"/>
              <a:t>tuning</a:t>
            </a:r>
          </a:p>
          <a:p>
            <a:r>
              <a:rPr lang="en-US" dirty="0" smtClean="0"/>
              <a:t>Month </a:t>
            </a:r>
            <a:r>
              <a:rPr lang="en-US" dirty="0"/>
              <a:t>6: Comparative </a:t>
            </a:r>
            <a:r>
              <a:rPr lang="en-US" dirty="0" smtClean="0"/>
              <a:t>evaluation</a:t>
            </a:r>
          </a:p>
          <a:p>
            <a:r>
              <a:rPr lang="en-US" dirty="0" smtClean="0"/>
              <a:t>Month </a:t>
            </a:r>
            <a:r>
              <a:rPr lang="en-US" dirty="0"/>
              <a:t>7: Agricultural </a:t>
            </a:r>
            <a:r>
              <a:rPr lang="en-US" dirty="0" smtClean="0"/>
              <a:t>validation</a:t>
            </a:r>
          </a:p>
          <a:p>
            <a:r>
              <a:rPr lang="en-US" dirty="0" smtClean="0"/>
              <a:t>Month </a:t>
            </a:r>
            <a:r>
              <a:rPr lang="en-US" dirty="0"/>
              <a:t>8: Thesis writing &amp; revision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F4138-0F31-0DEF-F2AC-3C19DCEF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54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96914-F7DD-98A6-7DF6-2481D89F0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54709"/>
            <a:ext cx="10515600" cy="352225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THANK YOU </a:t>
            </a:r>
            <a:r>
              <a:rPr lang="en-US" sz="3200" dirty="0" smtClean="0"/>
              <a:t>!!</a:t>
            </a:r>
            <a:br>
              <a:rPr lang="en-US" sz="3200" dirty="0" smtClean="0"/>
            </a:br>
            <a:r>
              <a:rPr lang="en-US" sz="3200" dirty="0" smtClean="0"/>
              <a:t>Questions?</a:t>
            </a:r>
            <a:endParaRPr lang="en-US" sz="3200" dirty="0"/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D3398A-C443-40D9-94BF-822BEC08C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DBC0-6D8C-4538-8700-0A5D87AA8A51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4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417</TotalTime>
  <Words>685</Words>
  <Application>Microsoft Office PowerPoint</Application>
  <PresentationFormat>Widescreen</PresentationFormat>
  <Paragraphs>155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Cambria Math</vt:lpstr>
      <vt:lpstr>Gill Sans MT</vt:lpstr>
      <vt:lpstr>Gallery</vt:lpstr>
      <vt:lpstr>THESIS PROPOSAL ON  Correlation-Adaptive Weather Graph Modeling for Precision Crop Recommendation in Complex Mountain Terrain</vt:lpstr>
      <vt:lpstr>Overview</vt:lpstr>
      <vt:lpstr>Introduction (Background)</vt:lpstr>
      <vt:lpstr>Introduction (The Distance Trap in Mountain Terrain)</vt:lpstr>
      <vt:lpstr>PROBLEM STATEMENT</vt:lpstr>
      <vt:lpstr>Research Gap</vt:lpstr>
      <vt:lpstr>Objectives</vt:lpstr>
      <vt:lpstr>Methodology (Overall Methodology Framework)</vt:lpstr>
      <vt:lpstr>Methodology (Correlation-Adaptive Graph Construction)</vt:lpstr>
      <vt:lpstr>Methodology (STGCN Model)</vt:lpstr>
      <vt:lpstr>Methodology (Crop Recommendation Integration)</vt:lpstr>
      <vt:lpstr>Experimental Design</vt:lpstr>
      <vt:lpstr>Evaluation Metrics</vt:lpstr>
      <vt:lpstr>Evaluation Metrics Cont.'s</vt:lpstr>
      <vt:lpstr>Evaluation Metrics (Forecasting Metrics)</vt:lpstr>
      <vt:lpstr>Expected outcomes</vt:lpstr>
      <vt:lpstr>TImeline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PROPOSAL ON  Loan Default Prediction Using Stacking Ensemble Methods</dc:title>
  <dc:creator>Niroj</dc:creator>
  <cp:lastModifiedBy>Sayuz Shikhrakar</cp:lastModifiedBy>
  <cp:revision>72</cp:revision>
  <dcterms:created xsi:type="dcterms:W3CDTF">2024-05-14T18:04:25Z</dcterms:created>
  <dcterms:modified xsi:type="dcterms:W3CDTF">2026-03-24T14:31:48Z</dcterms:modified>
</cp:coreProperties>
</file>